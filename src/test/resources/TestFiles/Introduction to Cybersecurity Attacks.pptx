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22" r:id="rId1"/>
  </p:sldMasterIdLst>
  <p:sldIdLst>
    <p:sldId id="257" r:id="rId2"/>
    <p:sldId id="256"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F3667018-207C-400E-841D-D1C337541EA7}">
          <p14:sldIdLst>
            <p14:sldId id="257"/>
            <p14:sldId id="256"/>
            <p14:sldId id="258"/>
            <p14:sldId id="259"/>
            <p14:sldId id="260"/>
            <p14:sldId id="261"/>
            <p14:sldId id="262"/>
            <p14:sldId id="263"/>
            <p14:sldId id="264"/>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473D5D6-9C3F-42F6-A67E-B2648679A121}" type="datetimeFigureOut">
              <a:rPr lang="en-IN" smtClean="0"/>
              <a:t>29-05-2026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C33C90B-6C7D-465D-ABDE-0E8687CD7CBE}" type="slidenum">
              <a:rPr lang="en-IN" smtClean="0"/>
              <a:t>‹#›</a:t>
            </a:fld>
            <a:endParaRPr lang="en-IN"/>
          </a:p>
        </p:txBody>
      </p:sp>
    </p:spTree>
    <p:extLst>
      <p:ext uri="{BB962C8B-B14F-4D97-AF65-F5344CB8AC3E}">
        <p14:creationId xmlns:p14="http://schemas.microsoft.com/office/powerpoint/2010/main" val="28823422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E473D5D6-9C3F-42F6-A67E-B2648679A121}" type="datetimeFigureOut">
              <a:rPr lang="en-IN" smtClean="0"/>
              <a:t>29-05-2026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C33C90B-6C7D-465D-ABDE-0E8687CD7CBE}" type="slidenum">
              <a:rPr lang="en-IN" smtClean="0"/>
              <a:t>‹#›</a:t>
            </a:fld>
            <a:endParaRPr lang="en-IN"/>
          </a:p>
        </p:txBody>
      </p:sp>
    </p:spTree>
    <p:extLst>
      <p:ext uri="{BB962C8B-B14F-4D97-AF65-F5344CB8AC3E}">
        <p14:creationId xmlns:p14="http://schemas.microsoft.com/office/powerpoint/2010/main" val="7322145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473D5D6-9C3F-42F6-A67E-B2648679A121}" type="datetimeFigureOut">
              <a:rPr lang="en-IN" smtClean="0"/>
              <a:t>29-05-2026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C33C90B-6C7D-465D-ABDE-0E8687CD7CBE}" type="slidenum">
              <a:rPr lang="en-IN" smtClean="0"/>
              <a:t>‹#›</a:t>
            </a:fld>
            <a:endParaRPr lang="en-IN"/>
          </a:p>
        </p:txBody>
      </p:sp>
    </p:spTree>
    <p:extLst>
      <p:ext uri="{BB962C8B-B14F-4D97-AF65-F5344CB8AC3E}">
        <p14:creationId xmlns:p14="http://schemas.microsoft.com/office/powerpoint/2010/main" val="5808609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473D5D6-9C3F-42F6-A67E-B2648679A121}" type="datetimeFigureOut">
              <a:rPr lang="en-IN" smtClean="0"/>
              <a:t>29-05-2026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C33C90B-6C7D-465D-ABDE-0E8687CD7CBE}" type="slidenum">
              <a:rPr lang="en-IN" smtClean="0"/>
              <a:t>‹#›</a:t>
            </a:fld>
            <a:endParaRPr lang="en-IN"/>
          </a:p>
        </p:txBody>
      </p:sp>
    </p:spTree>
    <p:extLst>
      <p:ext uri="{BB962C8B-B14F-4D97-AF65-F5344CB8AC3E}">
        <p14:creationId xmlns:p14="http://schemas.microsoft.com/office/powerpoint/2010/main" val="41957728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473D5D6-9C3F-42F6-A67E-B2648679A121}" type="datetimeFigureOut">
              <a:rPr lang="en-IN" smtClean="0"/>
              <a:t>29-05-2026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2C33C90B-6C7D-465D-ABDE-0E8687CD7CBE}" type="slidenum">
              <a:rPr lang="en-IN" smtClean="0"/>
              <a:t>‹#›</a:t>
            </a:fld>
            <a:endParaRPr lang="en-IN"/>
          </a:p>
        </p:txBody>
      </p:sp>
    </p:spTree>
    <p:extLst>
      <p:ext uri="{BB962C8B-B14F-4D97-AF65-F5344CB8AC3E}">
        <p14:creationId xmlns:p14="http://schemas.microsoft.com/office/powerpoint/2010/main" val="39547016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E473D5D6-9C3F-42F6-A67E-B2648679A121}" type="datetimeFigureOut">
              <a:rPr lang="en-IN" smtClean="0"/>
              <a:t>29-05-2026</a:t>
            </a:fld>
            <a:endParaRPr lang="en-IN"/>
          </a:p>
        </p:txBody>
      </p:sp>
      <p:sp>
        <p:nvSpPr>
          <p:cNvPr id="5" name="Footer Placeholder 3"/>
          <p:cNvSpPr>
            <a:spLocks noGrp="1"/>
          </p:cNvSpPr>
          <p:nvPr>
            <p:ph type="ftr" sz="quarter" idx="11"/>
          </p:nvPr>
        </p:nvSpPr>
        <p:spPr/>
        <p:txBody>
          <a:bodyPr/>
          <a:lstStyle/>
          <a:p>
            <a:endParaRPr lang="en-IN"/>
          </a:p>
        </p:txBody>
      </p:sp>
      <p:sp>
        <p:nvSpPr>
          <p:cNvPr id="6" name="Slide Number Placeholder 4"/>
          <p:cNvSpPr>
            <a:spLocks noGrp="1"/>
          </p:cNvSpPr>
          <p:nvPr>
            <p:ph type="sldNum" sz="quarter" idx="12"/>
          </p:nvPr>
        </p:nvSpPr>
        <p:spPr/>
        <p:txBody>
          <a:bodyPr/>
          <a:lstStyle/>
          <a:p>
            <a:fld id="{2C33C90B-6C7D-465D-ABDE-0E8687CD7CBE}" type="slidenum">
              <a:rPr lang="en-IN" smtClean="0"/>
              <a:t>‹#›</a:t>
            </a:fld>
            <a:endParaRPr lang="en-IN"/>
          </a:p>
        </p:txBody>
      </p:sp>
    </p:spTree>
    <p:extLst>
      <p:ext uri="{BB962C8B-B14F-4D97-AF65-F5344CB8AC3E}">
        <p14:creationId xmlns:p14="http://schemas.microsoft.com/office/powerpoint/2010/main" val="6590712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E473D5D6-9C3F-42F6-A67E-B2648679A121}" type="datetimeFigureOut">
              <a:rPr lang="en-IN" smtClean="0"/>
              <a:t>29-05-2026</a:t>
            </a:fld>
            <a:endParaRPr lang="en-IN"/>
          </a:p>
        </p:txBody>
      </p:sp>
      <p:sp>
        <p:nvSpPr>
          <p:cNvPr id="5" name="Footer Placeholder 2"/>
          <p:cNvSpPr>
            <a:spLocks noGrp="1"/>
          </p:cNvSpPr>
          <p:nvPr>
            <p:ph type="ftr" sz="quarter" idx="11"/>
          </p:nvPr>
        </p:nvSpPr>
        <p:spPr/>
        <p:txBody>
          <a:bodyPr/>
          <a:lstStyle/>
          <a:p>
            <a:endParaRPr lang="en-IN"/>
          </a:p>
        </p:txBody>
      </p:sp>
      <p:sp>
        <p:nvSpPr>
          <p:cNvPr id="6" name="Slide Number Placeholder 3"/>
          <p:cNvSpPr>
            <a:spLocks noGrp="1"/>
          </p:cNvSpPr>
          <p:nvPr>
            <p:ph type="sldNum" sz="quarter" idx="12"/>
          </p:nvPr>
        </p:nvSpPr>
        <p:spPr/>
        <p:txBody>
          <a:bodyPr/>
          <a:lstStyle/>
          <a:p>
            <a:fld id="{2C33C90B-6C7D-465D-ABDE-0E8687CD7CBE}" type="slidenum">
              <a:rPr lang="en-IN" smtClean="0"/>
              <a:t>‹#›</a:t>
            </a:fld>
            <a:endParaRPr lang="en-IN"/>
          </a:p>
        </p:txBody>
      </p:sp>
    </p:spTree>
    <p:extLst>
      <p:ext uri="{BB962C8B-B14F-4D97-AF65-F5344CB8AC3E}">
        <p14:creationId xmlns:p14="http://schemas.microsoft.com/office/powerpoint/2010/main" val="39943900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E473D5D6-9C3F-42F6-A67E-B2648679A121}" type="datetimeFigureOut">
              <a:rPr lang="en-IN" smtClean="0"/>
              <a:t>29-05-2026</a:t>
            </a:fld>
            <a:endParaRPr lang="en-IN"/>
          </a:p>
        </p:txBody>
      </p:sp>
      <p:sp>
        <p:nvSpPr>
          <p:cNvPr id="5" name="Footer Placeholder 5"/>
          <p:cNvSpPr>
            <a:spLocks noGrp="1"/>
          </p:cNvSpPr>
          <p:nvPr>
            <p:ph type="ftr" sz="quarter" idx="11"/>
          </p:nvPr>
        </p:nvSpPr>
        <p:spPr/>
        <p:txBody>
          <a:bodyPr/>
          <a:lstStyle/>
          <a:p>
            <a:endParaRPr lang="en-IN"/>
          </a:p>
        </p:txBody>
      </p:sp>
      <p:sp>
        <p:nvSpPr>
          <p:cNvPr id="6" name="Slide Number Placeholder 6"/>
          <p:cNvSpPr>
            <a:spLocks noGrp="1"/>
          </p:cNvSpPr>
          <p:nvPr>
            <p:ph type="sldNum" sz="quarter" idx="12"/>
          </p:nvPr>
        </p:nvSpPr>
        <p:spPr/>
        <p:txBody>
          <a:bodyPr/>
          <a:lstStyle/>
          <a:p>
            <a:fld id="{2C33C90B-6C7D-465D-ABDE-0E8687CD7CBE}" type="slidenum">
              <a:rPr lang="en-IN" smtClean="0"/>
              <a:t>‹#›</a:t>
            </a:fld>
            <a:endParaRPr lang="en-IN"/>
          </a:p>
        </p:txBody>
      </p:sp>
    </p:spTree>
    <p:extLst>
      <p:ext uri="{BB962C8B-B14F-4D97-AF65-F5344CB8AC3E}">
        <p14:creationId xmlns:p14="http://schemas.microsoft.com/office/powerpoint/2010/main" val="91844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473D5D6-9C3F-42F6-A67E-B2648679A121}" type="datetimeFigureOut">
              <a:rPr lang="en-IN" smtClean="0"/>
              <a:t>29-05-2026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C33C90B-6C7D-465D-ABDE-0E8687CD7CBE}" type="slidenum">
              <a:rPr lang="en-IN" smtClean="0"/>
              <a:t>‹#›</a:t>
            </a:fld>
            <a:endParaRPr lang="en-IN"/>
          </a:p>
        </p:txBody>
      </p:sp>
    </p:spTree>
    <p:extLst>
      <p:ext uri="{BB962C8B-B14F-4D97-AF65-F5344CB8AC3E}">
        <p14:creationId xmlns:p14="http://schemas.microsoft.com/office/powerpoint/2010/main" val="6706382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473D5D6-9C3F-42F6-A67E-B2648679A121}" type="datetimeFigureOut">
              <a:rPr lang="en-IN" smtClean="0"/>
              <a:t>29-05-2026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C33C90B-6C7D-465D-ABDE-0E8687CD7CBE}" type="slidenum">
              <a:rPr lang="en-IN" smtClean="0"/>
              <a:t>‹#›</a:t>
            </a:fld>
            <a:endParaRPr lang="en-IN"/>
          </a:p>
        </p:txBody>
      </p:sp>
    </p:spTree>
    <p:extLst>
      <p:ext uri="{BB962C8B-B14F-4D97-AF65-F5344CB8AC3E}">
        <p14:creationId xmlns:p14="http://schemas.microsoft.com/office/powerpoint/2010/main" val="252838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E473D5D6-9C3F-42F6-A67E-B2648679A121}" type="datetimeFigureOut">
              <a:rPr lang="en-IN" smtClean="0"/>
              <a:t>29-05-2026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C33C90B-6C7D-465D-ABDE-0E8687CD7CBE}" type="slidenum">
              <a:rPr lang="en-IN" smtClean="0"/>
              <a:t>‹#›</a:t>
            </a:fld>
            <a:endParaRPr lang="en-IN"/>
          </a:p>
        </p:txBody>
      </p:sp>
    </p:spTree>
    <p:extLst>
      <p:ext uri="{BB962C8B-B14F-4D97-AF65-F5344CB8AC3E}">
        <p14:creationId xmlns:p14="http://schemas.microsoft.com/office/powerpoint/2010/main" val="21435545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E473D5D6-9C3F-42F6-A67E-B2648679A121}" type="datetimeFigureOut">
              <a:rPr lang="en-IN" smtClean="0"/>
              <a:t>29-05-2026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C33C90B-6C7D-465D-ABDE-0E8687CD7CBE}" type="slidenum">
              <a:rPr lang="en-IN" smtClean="0"/>
              <a:t>‹#›</a:t>
            </a:fld>
            <a:endParaRPr lang="en-IN"/>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160071284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473D5D6-9C3F-42F6-A67E-B2648679A121}" type="datetimeFigureOut">
              <a:rPr lang="en-IN" smtClean="0"/>
              <a:t>29-05-2026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C33C90B-6C7D-465D-ABDE-0E8687CD7CBE}" type="slidenum">
              <a:rPr lang="en-IN" smtClean="0"/>
              <a:t>‹#›</a:t>
            </a:fld>
            <a:endParaRPr lang="en-IN"/>
          </a:p>
        </p:txBody>
      </p:sp>
    </p:spTree>
    <p:extLst>
      <p:ext uri="{BB962C8B-B14F-4D97-AF65-F5344CB8AC3E}">
        <p14:creationId xmlns:p14="http://schemas.microsoft.com/office/powerpoint/2010/main" val="351838736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E473D5D6-9C3F-42F6-A67E-B2648679A121}" type="datetimeFigureOut">
              <a:rPr lang="en-IN" smtClean="0"/>
              <a:t>29-05-2026</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C33C90B-6C7D-465D-ABDE-0E8687CD7CBE}" type="slidenum">
              <a:rPr lang="en-IN" smtClean="0"/>
              <a:t>‹#›</a:t>
            </a:fld>
            <a:endParaRPr lang="en-IN"/>
          </a:p>
        </p:txBody>
      </p:sp>
    </p:spTree>
    <p:extLst>
      <p:ext uri="{BB962C8B-B14F-4D97-AF65-F5344CB8AC3E}">
        <p14:creationId xmlns:p14="http://schemas.microsoft.com/office/powerpoint/2010/main" val="261716608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E473D5D6-9C3F-42F6-A67E-B2648679A121}" type="datetimeFigureOut">
              <a:rPr lang="en-IN" smtClean="0"/>
              <a:t>29-05-2026</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C33C90B-6C7D-465D-ABDE-0E8687CD7CBE}" type="slidenum">
              <a:rPr lang="en-IN" smtClean="0"/>
              <a:t>‹#›</a:t>
            </a:fld>
            <a:endParaRPr lang="en-IN"/>
          </a:p>
        </p:txBody>
      </p:sp>
    </p:spTree>
    <p:extLst>
      <p:ext uri="{BB962C8B-B14F-4D97-AF65-F5344CB8AC3E}">
        <p14:creationId xmlns:p14="http://schemas.microsoft.com/office/powerpoint/2010/main" val="77629844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473D5D6-9C3F-42F6-A67E-B2648679A121}" type="datetimeFigureOut">
              <a:rPr lang="en-IN" smtClean="0"/>
              <a:t>29-05-2026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C33C90B-6C7D-465D-ABDE-0E8687CD7CBE}" type="slidenum">
              <a:rPr lang="en-IN" smtClean="0"/>
              <a:t>‹#›</a:t>
            </a:fld>
            <a:endParaRPr lang="en-IN"/>
          </a:p>
        </p:txBody>
      </p:sp>
    </p:spTree>
    <p:extLst>
      <p:ext uri="{BB962C8B-B14F-4D97-AF65-F5344CB8AC3E}">
        <p14:creationId xmlns:p14="http://schemas.microsoft.com/office/powerpoint/2010/main" val="290937291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473D5D6-9C3F-42F6-A67E-B2648679A121}" type="datetimeFigureOut">
              <a:rPr lang="en-IN" smtClean="0"/>
              <a:t>29-05-2026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C33C90B-6C7D-465D-ABDE-0E8687CD7CBE}" type="slidenum">
              <a:rPr lang="en-IN" smtClean="0"/>
              <a:t>‹#›</a:t>
            </a:fld>
            <a:endParaRPr lang="en-IN"/>
          </a:p>
        </p:txBody>
      </p:sp>
    </p:spTree>
    <p:extLst>
      <p:ext uri="{BB962C8B-B14F-4D97-AF65-F5344CB8AC3E}">
        <p14:creationId xmlns:p14="http://schemas.microsoft.com/office/powerpoint/2010/main" val="37253314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E473D5D6-9C3F-42F6-A67E-B2648679A121}" type="datetimeFigureOut">
              <a:rPr lang="en-IN" smtClean="0"/>
              <a:t>29-05-2026</a:t>
            </a:fld>
            <a:endParaRPr lang="en-IN"/>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IN"/>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2C33C90B-6C7D-465D-ABDE-0E8687CD7CBE}" type="slidenum">
              <a:rPr lang="en-IN" smtClean="0"/>
              <a:t>‹#›</a:t>
            </a:fld>
            <a:endParaRPr lang="en-IN"/>
          </a:p>
        </p:txBody>
      </p:sp>
    </p:spTree>
    <p:extLst>
      <p:ext uri="{BB962C8B-B14F-4D97-AF65-F5344CB8AC3E}">
        <p14:creationId xmlns:p14="http://schemas.microsoft.com/office/powerpoint/2010/main" val="1629345951"/>
      </p:ext>
    </p:extLst>
  </p:cSld>
  <p:clrMap bg1="dk1" tx1="lt1" bg2="dk2" tx2="lt2" accent1="accent1" accent2="accent2" accent3="accent3" accent4="accent4" accent5="accent5" accent6="accent6" hlink="hlink" folHlink="folHlink"/>
  <p:sldLayoutIdLst>
    <p:sldLayoutId id="2147483823" r:id="rId1"/>
    <p:sldLayoutId id="2147483824" r:id="rId2"/>
    <p:sldLayoutId id="2147483825" r:id="rId3"/>
    <p:sldLayoutId id="2147483826" r:id="rId4"/>
    <p:sldLayoutId id="2147483827" r:id="rId5"/>
    <p:sldLayoutId id="2147483828" r:id="rId6"/>
    <p:sldLayoutId id="2147483829" r:id="rId7"/>
    <p:sldLayoutId id="2147483830" r:id="rId8"/>
    <p:sldLayoutId id="2147483831" r:id="rId9"/>
    <p:sldLayoutId id="2147483832" r:id="rId10"/>
    <p:sldLayoutId id="2147483833" r:id="rId11"/>
    <p:sldLayoutId id="2147483834" r:id="rId12"/>
    <p:sldLayoutId id="2147483835" r:id="rId13"/>
    <p:sldLayoutId id="2147483836" r:id="rId14"/>
    <p:sldLayoutId id="2147483837" r:id="rId15"/>
    <p:sldLayoutId id="2147483838" r:id="rId16"/>
    <p:sldLayoutId id="2147483839"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509762-BE98-6C52-A011-7BC1DAF20438}"/>
              </a:ext>
            </a:extLst>
          </p:cNvPr>
          <p:cNvSpPr>
            <a:spLocks noGrp="1"/>
          </p:cNvSpPr>
          <p:nvPr>
            <p:ph type="title"/>
          </p:nvPr>
        </p:nvSpPr>
        <p:spPr/>
        <p:txBody>
          <a:bodyPr>
            <a:normAutofit fontScale="90000"/>
          </a:bodyPr>
          <a:lstStyle/>
          <a:p>
            <a:r>
              <a:rPr lang="en-US" b="1" dirty="0"/>
              <a:t>Introduction to Cybersecurity Attacks</a:t>
            </a:r>
            <a:br>
              <a:rPr lang="en-US" b="1" dirty="0"/>
            </a:br>
            <a:endParaRPr lang="en-IN" dirty="0"/>
          </a:p>
        </p:txBody>
      </p:sp>
      <p:sp>
        <p:nvSpPr>
          <p:cNvPr id="3" name="Content Placeholder 2">
            <a:extLst>
              <a:ext uri="{FF2B5EF4-FFF2-40B4-BE49-F238E27FC236}">
                <a16:creationId xmlns:a16="http://schemas.microsoft.com/office/drawing/2014/main" id="{6BAA80F8-EF5D-D608-2A7D-96F2E807D3D7}"/>
              </a:ext>
            </a:extLst>
          </p:cNvPr>
          <p:cNvSpPr>
            <a:spLocks noGrp="1"/>
          </p:cNvSpPr>
          <p:nvPr>
            <p:ph idx="1"/>
          </p:nvPr>
        </p:nvSpPr>
        <p:spPr/>
        <p:txBody>
          <a:bodyPr>
            <a:normAutofit/>
          </a:bodyPr>
          <a:lstStyle/>
          <a:p>
            <a:r>
              <a:rPr lang="en-US" dirty="0"/>
              <a:t>Cybersecurity attacks are deliberate attempts by individuals, groups, or organizations to gain unauthorized access to computer systems, networks, applications, or data. These attacks are carried out for various purposes, including stealing sensitive information, disrupting business operations, extorting money, damaging systems, or gaining unauthorized control over digital resources.</a:t>
            </a:r>
          </a:p>
          <a:p>
            <a:r>
              <a:rPr lang="en-US" dirty="0"/>
              <a:t>Cybersecurity attacks can target both technical vulnerabilities and human behavior. Common attack methods include phishing, social engineering, malware, ransomware, SQL injection, cross-site scripting (XSS), and denial-of-service attacks. Understanding these threats is essential for protecting information, maintaining system security, and reducing the risk of cyber incidents.</a:t>
            </a:r>
          </a:p>
          <a:p>
            <a:endParaRPr lang="en-IN" dirty="0"/>
          </a:p>
        </p:txBody>
      </p:sp>
    </p:spTree>
    <p:extLst>
      <p:ext uri="{BB962C8B-B14F-4D97-AF65-F5344CB8AC3E}">
        <p14:creationId xmlns:p14="http://schemas.microsoft.com/office/powerpoint/2010/main" val="28651202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A9B56E7-A843-145F-3E13-4DB28A7B67E1}"/>
              </a:ext>
            </a:extLst>
          </p:cNvPr>
          <p:cNvSpPr txBox="1"/>
          <p:nvPr/>
        </p:nvSpPr>
        <p:spPr>
          <a:xfrm>
            <a:off x="385011" y="593557"/>
            <a:ext cx="11662610" cy="5078313"/>
          </a:xfrm>
          <a:prstGeom prst="rect">
            <a:avLst/>
          </a:prstGeom>
          <a:noFill/>
        </p:spPr>
        <p:txBody>
          <a:bodyPr wrap="square">
            <a:spAutoFit/>
          </a:bodyPr>
          <a:lstStyle/>
          <a:p>
            <a:pPr>
              <a:buNone/>
            </a:pPr>
            <a:r>
              <a:rPr lang="en-US" b="1" dirty="0"/>
              <a:t>Cybersecurity Attack Types</a:t>
            </a:r>
          </a:p>
          <a:p>
            <a:pPr>
              <a:buNone/>
            </a:pPr>
            <a:r>
              <a:rPr lang="en-US" b="1" dirty="0"/>
              <a:t>Phishing</a:t>
            </a:r>
          </a:p>
          <a:p>
            <a:pPr>
              <a:buNone/>
            </a:pPr>
            <a:r>
              <a:rPr lang="en-US" dirty="0"/>
              <a:t>Phishing is a cyberattack in which attackers impersonate a trusted organization, individual, or service to trick users into revealing sensitive information such as usernames, passwords, credit card details, or banking information. Phishing attacks are commonly delivered through emails, text messages, phone calls, or fake websites.</a:t>
            </a:r>
          </a:p>
          <a:p>
            <a:pPr>
              <a:buNone/>
            </a:pPr>
            <a:r>
              <a:rPr lang="en-US" b="1" dirty="0"/>
              <a:t>Example:</a:t>
            </a:r>
            <a:r>
              <a:rPr lang="en-US" dirty="0"/>
              <a:t> An email pretending to be from a bank asks a user to click a link and enter their login credentials.</a:t>
            </a:r>
          </a:p>
          <a:p>
            <a:pPr>
              <a:buNone/>
            </a:pPr>
            <a:endParaRPr lang="en-US" dirty="0"/>
          </a:p>
          <a:p>
            <a:r>
              <a:rPr lang="en-US" b="1" dirty="0"/>
              <a:t>Spear Phishing</a:t>
            </a:r>
          </a:p>
          <a:p>
            <a:r>
              <a:rPr lang="en-US" dirty="0"/>
              <a:t>Spear phishing is a targeted phishing attack aimed at a specific individual, team, or organization. Attackers often use personal information gathered from social media or public sources to make their messages appear legitimate.</a:t>
            </a:r>
          </a:p>
          <a:p>
            <a:r>
              <a:rPr lang="en-US" b="1" dirty="0"/>
              <a:t>Example:</a:t>
            </a:r>
            <a:r>
              <a:rPr lang="en-US" dirty="0"/>
              <a:t> An employee receives an email that appears to come from their manager requesting confidential documents.</a:t>
            </a:r>
          </a:p>
          <a:p>
            <a:endParaRPr lang="en-US" dirty="0"/>
          </a:p>
          <a:p>
            <a:r>
              <a:rPr lang="en-US" b="1" dirty="0"/>
              <a:t>Whaling</a:t>
            </a:r>
          </a:p>
          <a:p>
            <a:r>
              <a:rPr lang="en-US" dirty="0"/>
              <a:t>Whaling is a form of spear phishing that specifically targets high-level executives, business owners, or senior management personnel. These attacks often attempt to steal financial information or gain access to critical business systems.</a:t>
            </a:r>
          </a:p>
          <a:p>
            <a:r>
              <a:rPr lang="en-US" b="1" dirty="0"/>
              <a:t>Example:</a:t>
            </a:r>
            <a:r>
              <a:rPr lang="en-US" dirty="0"/>
              <a:t> A CEO receives a fake legal notice containing a malicious attachment.</a:t>
            </a:r>
          </a:p>
          <a:p>
            <a:endParaRPr lang="en-US" dirty="0"/>
          </a:p>
          <a:p>
            <a:pPr>
              <a:buNone/>
            </a:pPr>
            <a:endParaRPr lang="en-US" dirty="0"/>
          </a:p>
        </p:txBody>
      </p:sp>
    </p:spTree>
    <p:extLst>
      <p:ext uri="{BB962C8B-B14F-4D97-AF65-F5344CB8AC3E}">
        <p14:creationId xmlns:p14="http://schemas.microsoft.com/office/powerpoint/2010/main" val="29758883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603313E-69B7-61B0-E411-1BF014FD570F}"/>
              </a:ext>
            </a:extLst>
          </p:cNvPr>
          <p:cNvSpPr>
            <a:spLocks noGrp="1"/>
          </p:cNvSpPr>
          <p:nvPr>
            <p:ph idx="1"/>
          </p:nvPr>
        </p:nvSpPr>
        <p:spPr>
          <a:xfrm>
            <a:off x="417095" y="705853"/>
            <a:ext cx="10936705" cy="5471110"/>
          </a:xfrm>
        </p:spPr>
        <p:txBody>
          <a:bodyPr>
            <a:normAutofit fontScale="92500" lnSpcReduction="20000"/>
          </a:bodyPr>
          <a:lstStyle/>
          <a:p>
            <a:pPr marL="0" indent="0">
              <a:buNone/>
            </a:pPr>
            <a:r>
              <a:rPr lang="en-US" b="1" dirty="0"/>
              <a:t>Social Engineering</a:t>
            </a:r>
          </a:p>
          <a:p>
            <a:pPr marL="0" indent="0">
              <a:buNone/>
            </a:pPr>
            <a:r>
              <a:rPr lang="en-US" dirty="0"/>
              <a:t>Social engineering is the practice of manipulating people into performing actions or disclosing confidential information. Instead of exploiting technical vulnerabilities, attackers exploit human psychology, trust, fear, or curiosity.</a:t>
            </a:r>
          </a:p>
          <a:p>
            <a:pPr marL="0" indent="0">
              <a:buNone/>
            </a:pPr>
            <a:r>
              <a:rPr lang="en-US" b="1" dirty="0"/>
              <a:t>Example:</a:t>
            </a:r>
            <a:r>
              <a:rPr lang="en-US" dirty="0"/>
              <a:t> An attacker calls an employee pretending to be IT support and requests their password.</a:t>
            </a:r>
            <a:br>
              <a:rPr lang="en-US" dirty="0"/>
            </a:br>
            <a:endParaRPr lang="en-US" dirty="0"/>
          </a:p>
          <a:p>
            <a:pPr marL="0" indent="0">
              <a:buNone/>
            </a:pPr>
            <a:r>
              <a:rPr lang="en-US" b="1" dirty="0"/>
              <a:t>Pretexting</a:t>
            </a:r>
          </a:p>
          <a:p>
            <a:pPr marL="0" indent="0">
              <a:buNone/>
            </a:pPr>
            <a:r>
              <a:rPr lang="en-US" dirty="0"/>
              <a:t>Pretexting is a social engineering attack where an attacker creates a fabricated scenario or identity to obtain information from a victim.</a:t>
            </a:r>
          </a:p>
          <a:p>
            <a:pPr marL="0" indent="0">
              <a:buNone/>
            </a:pPr>
            <a:r>
              <a:rPr lang="en-US" b="1" dirty="0"/>
              <a:t>Example:</a:t>
            </a:r>
            <a:r>
              <a:rPr lang="en-US" dirty="0"/>
              <a:t> An attacker pretends to be a bank representative and requests account verification details.</a:t>
            </a:r>
            <a:br>
              <a:rPr lang="en-US" dirty="0"/>
            </a:br>
            <a:endParaRPr lang="en-US" dirty="0"/>
          </a:p>
          <a:p>
            <a:pPr marL="0" indent="0">
              <a:buNone/>
            </a:pPr>
            <a:r>
              <a:rPr lang="en-US" b="1" dirty="0"/>
              <a:t>Baiting</a:t>
            </a:r>
          </a:p>
          <a:p>
            <a:pPr marL="0" indent="0">
              <a:buNone/>
            </a:pPr>
            <a:r>
              <a:rPr lang="en-US" dirty="0"/>
              <a:t>Baiting is an attack that offers something attractive to lure victims into exposing sensitive information or installing malware.</a:t>
            </a:r>
          </a:p>
          <a:p>
            <a:pPr marL="0" indent="0">
              <a:buNone/>
            </a:pPr>
            <a:r>
              <a:rPr lang="en-US" b="1" dirty="0"/>
              <a:t>Example:</a:t>
            </a:r>
            <a:r>
              <a:rPr lang="en-US" dirty="0"/>
              <a:t> An attacker leaves an infected USB drive labeled "Employee Salary Report" in an office parking lot.</a:t>
            </a:r>
          </a:p>
          <a:p>
            <a:pPr marL="0" indent="0">
              <a:buNone/>
            </a:pPr>
            <a:endParaRPr lang="en-IN" dirty="0"/>
          </a:p>
        </p:txBody>
      </p:sp>
    </p:spTree>
    <p:extLst>
      <p:ext uri="{BB962C8B-B14F-4D97-AF65-F5344CB8AC3E}">
        <p14:creationId xmlns:p14="http://schemas.microsoft.com/office/powerpoint/2010/main" val="643170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4889C0D-C1BF-4E38-8845-6B952F9D5B8F}"/>
              </a:ext>
            </a:extLst>
          </p:cNvPr>
          <p:cNvSpPr>
            <a:spLocks noGrp="1"/>
          </p:cNvSpPr>
          <p:nvPr>
            <p:ph idx="1"/>
          </p:nvPr>
        </p:nvSpPr>
        <p:spPr>
          <a:xfrm>
            <a:off x="208547" y="240632"/>
            <a:ext cx="11145253" cy="5936331"/>
          </a:xfrm>
        </p:spPr>
        <p:txBody>
          <a:bodyPr>
            <a:normAutofit fontScale="92500" lnSpcReduction="10000"/>
          </a:bodyPr>
          <a:lstStyle/>
          <a:p>
            <a:pPr marL="0" indent="0">
              <a:buNone/>
            </a:pPr>
            <a:r>
              <a:rPr lang="en-US" b="1" dirty="0"/>
              <a:t>Tailgating</a:t>
            </a:r>
          </a:p>
          <a:p>
            <a:pPr marL="0" indent="0">
              <a:buNone/>
            </a:pPr>
            <a:r>
              <a:rPr lang="en-US" dirty="0"/>
              <a:t>Tailgating, also known as piggybacking, occurs when an unauthorized person gains physical access to a restricted area by following an authorized individual.</a:t>
            </a:r>
          </a:p>
          <a:p>
            <a:pPr marL="0" indent="0">
              <a:buNone/>
            </a:pPr>
            <a:r>
              <a:rPr lang="en-US" b="1" dirty="0"/>
              <a:t>Example:</a:t>
            </a:r>
            <a:r>
              <a:rPr lang="en-US" dirty="0"/>
              <a:t> An attacker enters a secure office building by following an employee through a security-controlled door.</a:t>
            </a:r>
          </a:p>
          <a:p>
            <a:pPr marL="0" indent="0">
              <a:buNone/>
            </a:pPr>
            <a:br>
              <a:rPr lang="en-US" dirty="0"/>
            </a:br>
            <a:endParaRPr lang="en-US" dirty="0"/>
          </a:p>
          <a:p>
            <a:pPr marL="0" indent="0">
              <a:buNone/>
            </a:pPr>
            <a:r>
              <a:rPr lang="en-US" b="1" dirty="0"/>
              <a:t>Shoulder Surfing</a:t>
            </a:r>
          </a:p>
          <a:p>
            <a:pPr marL="0" indent="0">
              <a:buNone/>
            </a:pPr>
            <a:r>
              <a:rPr lang="en-US" dirty="0"/>
              <a:t>Shoulder surfing is the act of observing a person's screen, keyboard, or documents to steal sensitive information.</a:t>
            </a:r>
          </a:p>
          <a:p>
            <a:pPr marL="0" indent="0">
              <a:buNone/>
            </a:pPr>
            <a:r>
              <a:rPr lang="en-US" b="1" dirty="0"/>
              <a:t>Example:</a:t>
            </a:r>
            <a:r>
              <a:rPr lang="en-US" dirty="0"/>
              <a:t> An attacker watches someone enter their ATM PIN or office password.</a:t>
            </a:r>
          </a:p>
          <a:p>
            <a:pPr marL="0" indent="0">
              <a:buNone/>
            </a:pPr>
            <a:br>
              <a:rPr lang="en-US" dirty="0"/>
            </a:br>
            <a:endParaRPr lang="en-US" dirty="0"/>
          </a:p>
          <a:p>
            <a:pPr marL="0" indent="0">
              <a:buNone/>
            </a:pPr>
            <a:r>
              <a:rPr lang="en-US" b="1" dirty="0"/>
              <a:t>Malware</a:t>
            </a:r>
          </a:p>
          <a:p>
            <a:pPr marL="0" indent="0">
              <a:buNone/>
            </a:pPr>
            <a:r>
              <a:rPr lang="en-US" dirty="0"/>
              <a:t>Malware is a general term for software intentionally designed to damage systems, steal data, disrupt operations, or gain unauthorized access to devices and networks.</a:t>
            </a:r>
          </a:p>
          <a:p>
            <a:pPr marL="0" indent="0">
              <a:buNone/>
            </a:pPr>
            <a:r>
              <a:rPr lang="en-US" b="1" dirty="0"/>
              <a:t>Example:</a:t>
            </a:r>
            <a:r>
              <a:rPr lang="en-US" dirty="0"/>
              <a:t> A malicious program installed on a computer to steal customer information.</a:t>
            </a:r>
          </a:p>
          <a:p>
            <a:pPr marL="0" indent="0">
              <a:buNone/>
            </a:pPr>
            <a:endParaRPr lang="en-IN" dirty="0"/>
          </a:p>
        </p:txBody>
      </p:sp>
    </p:spTree>
    <p:extLst>
      <p:ext uri="{BB962C8B-B14F-4D97-AF65-F5344CB8AC3E}">
        <p14:creationId xmlns:p14="http://schemas.microsoft.com/office/powerpoint/2010/main" val="19626301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6D78E29-826A-C3A8-DECA-F2030A879714}"/>
              </a:ext>
            </a:extLst>
          </p:cNvPr>
          <p:cNvSpPr>
            <a:spLocks noGrp="1"/>
          </p:cNvSpPr>
          <p:nvPr>
            <p:ph idx="1"/>
          </p:nvPr>
        </p:nvSpPr>
        <p:spPr>
          <a:xfrm>
            <a:off x="186813" y="403123"/>
            <a:ext cx="11166987" cy="5773840"/>
          </a:xfrm>
        </p:spPr>
        <p:txBody>
          <a:bodyPr>
            <a:normAutofit fontScale="77500" lnSpcReduction="20000"/>
          </a:bodyPr>
          <a:lstStyle/>
          <a:p>
            <a:pPr marL="0" indent="0">
              <a:buNone/>
            </a:pPr>
            <a:r>
              <a:rPr lang="en-US" b="1" dirty="0"/>
              <a:t>Virus</a:t>
            </a:r>
          </a:p>
          <a:p>
            <a:pPr marL="0" indent="0">
              <a:buNone/>
            </a:pPr>
            <a:r>
              <a:rPr lang="en-US" dirty="0"/>
              <a:t>A virus is a type of malware that attaches itself to legitimate files or programs and spreads when the infected file is executed.</a:t>
            </a:r>
          </a:p>
          <a:p>
            <a:pPr marL="0" indent="0">
              <a:buNone/>
            </a:pPr>
            <a:r>
              <a:rPr lang="en-US" b="1" dirty="0"/>
              <a:t>Example:</a:t>
            </a:r>
            <a:r>
              <a:rPr lang="en-US" dirty="0"/>
              <a:t> A user opens an infected file, causing the virus to spread to other files on the system.</a:t>
            </a:r>
          </a:p>
          <a:p>
            <a:pPr marL="0" indent="0">
              <a:buNone/>
            </a:pPr>
            <a:br>
              <a:rPr lang="en-US" dirty="0"/>
            </a:br>
            <a:endParaRPr lang="en-US" dirty="0"/>
          </a:p>
          <a:p>
            <a:pPr marL="0" indent="0">
              <a:buNone/>
            </a:pPr>
            <a:r>
              <a:rPr lang="en-US" b="1" dirty="0"/>
              <a:t>Worm</a:t>
            </a:r>
          </a:p>
          <a:p>
            <a:pPr marL="0" indent="0">
              <a:buNone/>
            </a:pPr>
            <a:r>
              <a:rPr lang="en-US" dirty="0"/>
              <a:t>A worm is malware that can replicate itself and spread automatically across networks without user interaction.</a:t>
            </a:r>
          </a:p>
          <a:p>
            <a:pPr marL="0" indent="0">
              <a:buNone/>
            </a:pPr>
            <a:r>
              <a:rPr lang="en-US" b="1" dirty="0"/>
              <a:t>Example:</a:t>
            </a:r>
            <a:r>
              <a:rPr lang="en-US" dirty="0"/>
              <a:t> A worm spreads through a company's network by exploiting a software vulnerability.</a:t>
            </a:r>
          </a:p>
          <a:p>
            <a:pPr marL="0" indent="0">
              <a:buNone/>
            </a:pPr>
            <a:br>
              <a:rPr lang="en-US" dirty="0"/>
            </a:br>
            <a:endParaRPr lang="en-US" dirty="0"/>
          </a:p>
          <a:p>
            <a:pPr marL="0" indent="0">
              <a:buNone/>
            </a:pPr>
            <a:r>
              <a:rPr lang="en-US" b="1" dirty="0"/>
              <a:t>Trojan Horse</a:t>
            </a:r>
          </a:p>
          <a:p>
            <a:pPr marL="0" indent="0">
              <a:buNone/>
            </a:pPr>
            <a:r>
              <a:rPr lang="en-US" dirty="0"/>
              <a:t>A Trojan Horse is malware disguised as legitimate software. Users unknowingly install it, believing it is safe.</a:t>
            </a:r>
          </a:p>
          <a:p>
            <a:pPr marL="0" indent="0">
              <a:buNone/>
            </a:pPr>
            <a:r>
              <a:rPr lang="en-US" b="1" dirty="0"/>
              <a:t>Example:</a:t>
            </a:r>
            <a:r>
              <a:rPr lang="en-US" dirty="0"/>
              <a:t> A fake software update installs malware instead of legitimate updates.</a:t>
            </a:r>
          </a:p>
          <a:p>
            <a:pPr marL="0" indent="0">
              <a:buNone/>
            </a:pPr>
            <a:br>
              <a:rPr lang="en-US" dirty="0"/>
            </a:br>
            <a:endParaRPr lang="en-US" dirty="0"/>
          </a:p>
          <a:p>
            <a:pPr marL="0" indent="0">
              <a:buNone/>
            </a:pPr>
            <a:r>
              <a:rPr lang="en-US" b="1" dirty="0"/>
              <a:t>Spyware</a:t>
            </a:r>
          </a:p>
          <a:p>
            <a:pPr marL="0" indent="0">
              <a:buNone/>
            </a:pPr>
            <a:r>
              <a:rPr lang="en-US" dirty="0"/>
              <a:t>Spyware is software that secretly monitors user activity and collects information without the user's knowledge.</a:t>
            </a:r>
          </a:p>
          <a:p>
            <a:pPr marL="0" indent="0">
              <a:buNone/>
            </a:pPr>
            <a:r>
              <a:rPr lang="en-US" b="1" dirty="0"/>
              <a:t>Example:</a:t>
            </a:r>
            <a:r>
              <a:rPr lang="en-US" dirty="0"/>
              <a:t> Spyware records browsing habits and sends the data to attackers.</a:t>
            </a:r>
          </a:p>
          <a:p>
            <a:endParaRPr lang="en-IN" dirty="0"/>
          </a:p>
        </p:txBody>
      </p:sp>
    </p:spTree>
    <p:extLst>
      <p:ext uri="{BB962C8B-B14F-4D97-AF65-F5344CB8AC3E}">
        <p14:creationId xmlns:p14="http://schemas.microsoft.com/office/powerpoint/2010/main" val="17694241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CC95951-0406-1D3B-5479-B1094C6C93D7}"/>
              </a:ext>
            </a:extLst>
          </p:cNvPr>
          <p:cNvSpPr>
            <a:spLocks noGrp="1"/>
          </p:cNvSpPr>
          <p:nvPr>
            <p:ph idx="1"/>
          </p:nvPr>
        </p:nvSpPr>
        <p:spPr>
          <a:xfrm>
            <a:off x="285134" y="255639"/>
            <a:ext cx="11068665" cy="5921324"/>
          </a:xfrm>
        </p:spPr>
        <p:txBody>
          <a:bodyPr>
            <a:normAutofit fontScale="92500" lnSpcReduction="10000"/>
          </a:bodyPr>
          <a:lstStyle/>
          <a:p>
            <a:pPr marL="0" indent="0">
              <a:buNone/>
            </a:pPr>
            <a:r>
              <a:rPr lang="en-US" b="1" dirty="0"/>
              <a:t>Adware</a:t>
            </a:r>
          </a:p>
          <a:p>
            <a:pPr marL="0" indent="0">
              <a:buNone/>
            </a:pPr>
            <a:r>
              <a:rPr lang="en-US" dirty="0"/>
              <a:t>Adware is software that automatically displays unwanted advertisements and may track user behavior.</a:t>
            </a:r>
          </a:p>
          <a:p>
            <a:pPr marL="0" indent="0">
              <a:buNone/>
            </a:pPr>
            <a:r>
              <a:rPr lang="en-US" b="1" dirty="0"/>
              <a:t>Example:</a:t>
            </a:r>
            <a:r>
              <a:rPr lang="en-US" dirty="0"/>
              <a:t> A free application continuously displays pop-up advertisements.</a:t>
            </a:r>
          </a:p>
          <a:p>
            <a:pPr marL="0" indent="0">
              <a:buNone/>
            </a:pPr>
            <a:br>
              <a:rPr lang="en-US" dirty="0"/>
            </a:br>
            <a:endParaRPr lang="en-US" dirty="0"/>
          </a:p>
          <a:p>
            <a:pPr marL="0" indent="0">
              <a:buNone/>
            </a:pPr>
            <a:r>
              <a:rPr lang="en-US" b="1" dirty="0"/>
              <a:t>Keylogger</a:t>
            </a:r>
          </a:p>
          <a:p>
            <a:pPr marL="0" indent="0">
              <a:buNone/>
            </a:pPr>
            <a:r>
              <a:rPr lang="en-US" dirty="0"/>
              <a:t>A keylogger is malware that records every keystroke entered by a user to capture passwords, credit card details, and other sensitive information.</a:t>
            </a:r>
          </a:p>
          <a:p>
            <a:pPr marL="0" indent="0">
              <a:buNone/>
            </a:pPr>
            <a:r>
              <a:rPr lang="en-US" b="1" dirty="0"/>
              <a:t>Example:</a:t>
            </a:r>
            <a:r>
              <a:rPr lang="en-US" dirty="0"/>
              <a:t> A keylogger records login credentials entered on a banking website.</a:t>
            </a:r>
          </a:p>
          <a:p>
            <a:pPr marL="0" indent="0">
              <a:buNone/>
            </a:pPr>
            <a:br>
              <a:rPr lang="en-US" dirty="0"/>
            </a:br>
            <a:endParaRPr lang="en-US" dirty="0"/>
          </a:p>
          <a:p>
            <a:pPr marL="0" indent="0">
              <a:buNone/>
            </a:pPr>
            <a:r>
              <a:rPr lang="en-US" b="1" dirty="0"/>
              <a:t>Ransomware</a:t>
            </a:r>
          </a:p>
          <a:p>
            <a:pPr marL="0" indent="0">
              <a:buNone/>
            </a:pPr>
            <a:r>
              <a:rPr lang="en-US" dirty="0"/>
              <a:t>Ransomware is malware that encrypts files, systems, or entire networks and demands payment in exchange for restoring access.</a:t>
            </a:r>
          </a:p>
          <a:p>
            <a:pPr marL="0" indent="0">
              <a:buNone/>
            </a:pPr>
            <a:r>
              <a:rPr lang="en-US" b="1" dirty="0"/>
              <a:t>Example:</a:t>
            </a:r>
            <a:r>
              <a:rPr lang="en-US" dirty="0"/>
              <a:t> An organization loses access to its files and receives a demand for cryptocurrency payment to decrypt them.</a:t>
            </a:r>
          </a:p>
          <a:p>
            <a:pPr marL="0" indent="0">
              <a:buNone/>
            </a:pPr>
            <a:endParaRPr lang="en-IN" dirty="0"/>
          </a:p>
        </p:txBody>
      </p:sp>
    </p:spTree>
    <p:extLst>
      <p:ext uri="{BB962C8B-B14F-4D97-AF65-F5344CB8AC3E}">
        <p14:creationId xmlns:p14="http://schemas.microsoft.com/office/powerpoint/2010/main" val="33074372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E61E265-1185-7961-82F3-C657AD02D34E}"/>
              </a:ext>
            </a:extLst>
          </p:cNvPr>
          <p:cNvSpPr>
            <a:spLocks noGrp="1"/>
          </p:cNvSpPr>
          <p:nvPr>
            <p:ph idx="1"/>
          </p:nvPr>
        </p:nvSpPr>
        <p:spPr>
          <a:xfrm>
            <a:off x="196645" y="265471"/>
            <a:ext cx="11157155" cy="5911492"/>
          </a:xfrm>
        </p:spPr>
        <p:txBody>
          <a:bodyPr>
            <a:normAutofit fontScale="92500" lnSpcReduction="20000"/>
          </a:bodyPr>
          <a:lstStyle/>
          <a:p>
            <a:pPr marL="0" indent="0">
              <a:buNone/>
            </a:pPr>
            <a:r>
              <a:rPr lang="en-US" b="1" dirty="0"/>
              <a:t>Distributed Denial of Service (DDoS)</a:t>
            </a:r>
          </a:p>
          <a:p>
            <a:pPr marL="0" indent="0">
              <a:buNone/>
            </a:pPr>
            <a:r>
              <a:rPr lang="en-US" dirty="0"/>
              <a:t>A Distributed Denial of Service attack floods a target system, website, or network with massive amounts of traffic from multiple sources, making the service unavailable to legitimate users.</a:t>
            </a:r>
          </a:p>
          <a:p>
            <a:pPr marL="0" indent="0">
              <a:buNone/>
            </a:pPr>
            <a:r>
              <a:rPr lang="en-US" b="1" dirty="0"/>
              <a:t>Example:</a:t>
            </a:r>
            <a:r>
              <a:rPr lang="en-US" dirty="0"/>
              <a:t> Thousands of compromised devices send requests to a website, causing it to crash.</a:t>
            </a:r>
          </a:p>
          <a:p>
            <a:pPr marL="0" indent="0">
              <a:buNone/>
            </a:pPr>
            <a:br>
              <a:rPr lang="en-US" dirty="0"/>
            </a:br>
            <a:endParaRPr lang="en-US" dirty="0"/>
          </a:p>
          <a:p>
            <a:pPr marL="0" indent="0">
              <a:buNone/>
            </a:pPr>
            <a:r>
              <a:rPr lang="en-US" b="1" dirty="0"/>
              <a:t>SQL Injection</a:t>
            </a:r>
          </a:p>
          <a:p>
            <a:pPr marL="0" indent="0">
              <a:buNone/>
            </a:pPr>
            <a:r>
              <a:rPr lang="en-US" dirty="0"/>
              <a:t>SQL Injection is a web application attack in which malicious SQL commands are inserted into input fields to manipulate or access database information.</a:t>
            </a:r>
          </a:p>
          <a:p>
            <a:pPr marL="0" indent="0">
              <a:buNone/>
            </a:pPr>
            <a:r>
              <a:rPr lang="en-US" b="1" dirty="0"/>
              <a:t>Example:</a:t>
            </a:r>
            <a:r>
              <a:rPr lang="en-US" dirty="0"/>
              <a:t> An attacker enters specially crafted SQL code into a login form to bypass authentication.</a:t>
            </a:r>
          </a:p>
          <a:p>
            <a:pPr marL="0" indent="0">
              <a:buNone/>
            </a:pPr>
            <a:br>
              <a:rPr lang="en-US" dirty="0"/>
            </a:br>
            <a:endParaRPr lang="en-US" dirty="0"/>
          </a:p>
          <a:p>
            <a:pPr marL="0" indent="0">
              <a:buNone/>
            </a:pPr>
            <a:r>
              <a:rPr lang="en-US" b="1" dirty="0"/>
              <a:t>Cross-Site Scripting (XSS)</a:t>
            </a:r>
          </a:p>
          <a:p>
            <a:pPr marL="0" indent="0">
              <a:buNone/>
            </a:pPr>
            <a:r>
              <a:rPr lang="en-US" dirty="0"/>
              <a:t>Cross-Site Scripting is a web security vulnerability that allows attackers to inject malicious scripts into web pages viewed by other users.</a:t>
            </a:r>
          </a:p>
          <a:p>
            <a:pPr marL="0" indent="0">
              <a:buNone/>
            </a:pPr>
            <a:r>
              <a:rPr lang="en-US" b="1" dirty="0"/>
              <a:t>Example:</a:t>
            </a:r>
            <a:r>
              <a:rPr lang="en-US" dirty="0"/>
              <a:t> An attacker posts malicious JavaScript in a comment section, which executes when other users view the page.</a:t>
            </a:r>
          </a:p>
          <a:p>
            <a:endParaRPr lang="en-IN" dirty="0"/>
          </a:p>
        </p:txBody>
      </p:sp>
    </p:spTree>
    <p:extLst>
      <p:ext uri="{BB962C8B-B14F-4D97-AF65-F5344CB8AC3E}">
        <p14:creationId xmlns:p14="http://schemas.microsoft.com/office/powerpoint/2010/main" val="37641698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52600E4-FAC5-C6BC-A4FA-58690641BAF2}"/>
              </a:ext>
            </a:extLst>
          </p:cNvPr>
          <p:cNvSpPr>
            <a:spLocks noGrp="1"/>
          </p:cNvSpPr>
          <p:nvPr>
            <p:ph idx="1"/>
          </p:nvPr>
        </p:nvSpPr>
        <p:spPr>
          <a:xfrm>
            <a:off x="147484" y="206477"/>
            <a:ext cx="11206316" cy="5970486"/>
          </a:xfrm>
        </p:spPr>
        <p:txBody>
          <a:bodyPr>
            <a:normAutofit fontScale="92500" lnSpcReduction="20000"/>
          </a:bodyPr>
          <a:lstStyle/>
          <a:p>
            <a:pPr marL="0" indent="0">
              <a:buNone/>
            </a:pPr>
            <a:r>
              <a:rPr lang="en-US" b="1" dirty="0"/>
              <a:t>Cross-Site Request Forgery (CSRF)</a:t>
            </a:r>
          </a:p>
          <a:p>
            <a:pPr marL="0" indent="0">
              <a:buNone/>
            </a:pPr>
            <a:r>
              <a:rPr lang="en-US" dirty="0"/>
              <a:t>Cross-Site Request Forgery tricks an authenticated user into performing unintended actions on a website without their knowledge.</a:t>
            </a:r>
          </a:p>
          <a:p>
            <a:pPr marL="0" indent="0">
              <a:buNone/>
            </a:pPr>
            <a:r>
              <a:rPr lang="en-US" b="1" dirty="0"/>
              <a:t>Example:</a:t>
            </a:r>
            <a:r>
              <a:rPr lang="en-US" dirty="0"/>
              <a:t> A logged-in user clicks a malicious link that silently transfers money from their account.</a:t>
            </a:r>
          </a:p>
          <a:p>
            <a:pPr marL="0" indent="0">
              <a:buNone/>
            </a:pPr>
            <a:br>
              <a:rPr lang="en-US" dirty="0"/>
            </a:br>
            <a:endParaRPr lang="en-US" dirty="0"/>
          </a:p>
          <a:p>
            <a:pPr marL="0" indent="0">
              <a:buNone/>
            </a:pPr>
            <a:r>
              <a:rPr lang="en-US" b="1" dirty="0"/>
              <a:t>Man-in-the-Middle (MITM) Attack</a:t>
            </a:r>
          </a:p>
          <a:p>
            <a:pPr marL="0" indent="0">
              <a:buNone/>
            </a:pPr>
            <a:r>
              <a:rPr lang="en-US" dirty="0"/>
              <a:t>A Man-in-the-Middle attack occurs when an attacker secretly intercepts and potentially alters communication between two parties.</a:t>
            </a:r>
          </a:p>
          <a:p>
            <a:pPr marL="0" indent="0">
              <a:buNone/>
            </a:pPr>
            <a:r>
              <a:rPr lang="en-US" b="1" dirty="0"/>
              <a:t>Example:</a:t>
            </a:r>
            <a:r>
              <a:rPr lang="en-US" dirty="0"/>
              <a:t> An attacker intercepts data transmitted over an unsecured public Wi-Fi network.</a:t>
            </a:r>
          </a:p>
          <a:p>
            <a:pPr marL="0" indent="0">
              <a:buNone/>
            </a:pPr>
            <a:br>
              <a:rPr lang="en-US" dirty="0"/>
            </a:br>
            <a:endParaRPr lang="en-US" dirty="0"/>
          </a:p>
          <a:p>
            <a:pPr marL="0" indent="0">
              <a:buNone/>
            </a:pPr>
            <a:r>
              <a:rPr lang="en-US" b="1" dirty="0"/>
              <a:t>Credential Stuffing</a:t>
            </a:r>
          </a:p>
          <a:p>
            <a:pPr marL="0" indent="0">
              <a:buNone/>
            </a:pPr>
            <a:r>
              <a:rPr lang="en-US" dirty="0"/>
              <a:t>Credential stuffing is an attack where attackers use stolen username-password combinations from previous breaches to gain access to other accounts.</a:t>
            </a:r>
          </a:p>
          <a:p>
            <a:pPr marL="0" indent="0">
              <a:buNone/>
            </a:pPr>
            <a:r>
              <a:rPr lang="en-US" b="1" dirty="0"/>
              <a:t>Example:</a:t>
            </a:r>
            <a:r>
              <a:rPr lang="en-US" dirty="0"/>
              <a:t> Using leaked email and password combinations to attempt logins on multiple websites.</a:t>
            </a:r>
          </a:p>
          <a:p>
            <a:pPr marL="0" indent="0">
              <a:buNone/>
            </a:pPr>
            <a:endParaRPr lang="en-IN" dirty="0"/>
          </a:p>
        </p:txBody>
      </p:sp>
    </p:spTree>
    <p:extLst>
      <p:ext uri="{BB962C8B-B14F-4D97-AF65-F5344CB8AC3E}">
        <p14:creationId xmlns:p14="http://schemas.microsoft.com/office/powerpoint/2010/main" val="23980275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4E14B1B-7D51-8F1A-29F6-3D55A9DCB7CA}"/>
              </a:ext>
            </a:extLst>
          </p:cNvPr>
          <p:cNvSpPr>
            <a:spLocks noGrp="1"/>
          </p:cNvSpPr>
          <p:nvPr>
            <p:ph idx="1"/>
          </p:nvPr>
        </p:nvSpPr>
        <p:spPr>
          <a:xfrm>
            <a:off x="137652" y="245806"/>
            <a:ext cx="11216148" cy="5931157"/>
          </a:xfrm>
        </p:spPr>
        <p:txBody>
          <a:bodyPr>
            <a:normAutofit/>
          </a:bodyPr>
          <a:lstStyle/>
          <a:p>
            <a:pPr marL="0" indent="0">
              <a:buNone/>
            </a:pPr>
            <a:r>
              <a:rPr lang="en-US" b="1" dirty="0"/>
              <a:t>Brute Force Attack</a:t>
            </a:r>
          </a:p>
          <a:p>
            <a:pPr marL="0" indent="0">
              <a:buNone/>
            </a:pPr>
            <a:r>
              <a:rPr lang="en-US" dirty="0"/>
              <a:t>A brute force attack attempts to gain access to an account or system by systematically trying numerous password combinations until the correct one is found.</a:t>
            </a:r>
          </a:p>
          <a:p>
            <a:pPr marL="0" indent="0">
              <a:buNone/>
            </a:pPr>
            <a:r>
              <a:rPr lang="en-US" b="1" dirty="0"/>
              <a:t>Example:</a:t>
            </a:r>
            <a:r>
              <a:rPr lang="en-US" dirty="0"/>
              <a:t> Automated software repeatedly attempts different passwords against a login page.</a:t>
            </a:r>
          </a:p>
          <a:p>
            <a:pPr marL="0" indent="0">
              <a:buNone/>
            </a:pPr>
            <a:br>
              <a:rPr lang="en-US" dirty="0"/>
            </a:br>
            <a:endParaRPr lang="en-US" dirty="0"/>
          </a:p>
          <a:p>
            <a:pPr marL="0" indent="0">
              <a:buNone/>
            </a:pPr>
            <a:r>
              <a:rPr lang="en-US" b="1" dirty="0"/>
              <a:t>Zero-Day Attack</a:t>
            </a:r>
          </a:p>
          <a:p>
            <a:pPr marL="0" indent="0">
              <a:buNone/>
            </a:pPr>
            <a:r>
              <a:rPr lang="en-US" dirty="0"/>
              <a:t>A zero-day attack exploits a software vulnerability before the vendor has released a patch or fix.</a:t>
            </a:r>
          </a:p>
          <a:p>
            <a:pPr marL="0" indent="0">
              <a:buNone/>
            </a:pPr>
            <a:r>
              <a:rPr lang="en-US" b="1" dirty="0"/>
              <a:t>Example:</a:t>
            </a:r>
            <a:r>
              <a:rPr lang="en-US" dirty="0"/>
              <a:t> Attackers exploit a newly discovered browser vulnerability before users can update their systems.</a:t>
            </a:r>
          </a:p>
          <a:p>
            <a:pPr marL="0" indent="0">
              <a:buNone/>
            </a:pPr>
            <a:endParaRPr lang="en-IN" dirty="0"/>
          </a:p>
        </p:txBody>
      </p:sp>
    </p:spTree>
    <p:extLst>
      <p:ext uri="{BB962C8B-B14F-4D97-AF65-F5344CB8AC3E}">
        <p14:creationId xmlns:p14="http://schemas.microsoft.com/office/powerpoint/2010/main" val="351653459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0</TotalTime>
  <Words>1171</Words>
  <Application>Microsoft Office PowerPoint</Application>
  <PresentationFormat>Widescreen</PresentationFormat>
  <Paragraphs>90</Paragraphs>
  <Slides>9</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Century Gothic</vt:lpstr>
      <vt:lpstr>Wingdings 3</vt:lpstr>
      <vt:lpstr>Ion</vt:lpstr>
      <vt:lpstr>Introduction to Cybersecurity Attacks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Akilesh VR</dc:creator>
  <cp:lastModifiedBy>Akilesh VR</cp:lastModifiedBy>
  <cp:revision>1</cp:revision>
  <dcterms:created xsi:type="dcterms:W3CDTF">2026-05-29T05:42:49Z</dcterms:created>
  <dcterms:modified xsi:type="dcterms:W3CDTF">2026-05-29T05:43:30Z</dcterms:modified>
</cp:coreProperties>
</file>